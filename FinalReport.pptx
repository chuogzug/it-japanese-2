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81" r:id="rId2"/>
    <p:sldId id="258" r:id="rId3"/>
    <p:sldId id="260" r:id="rId4"/>
    <p:sldId id="278" r:id="rId5"/>
    <p:sldId id="257" r:id="rId6"/>
    <p:sldId id="262" r:id="rId7"/>
    <p:sldId id="275" r:id="rId8"/>
    <p:sldId id="276" r:id="rId9"/>
    <p:sldId id="273" r:id="rId10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F4FF"/>
    <a:srgbClr val="4F2409"/>
    <a:srgbClr val="E8E5E4"/>
    <a:srgbClr val="A59992"/>
    <a:srgbClr val="76583D"/>
    <a:srgbClr val="988378"/>
    <a:srgbClr val="CAC2BF"/>
    <a:srgbClr val="6D310D"/>
    <a:srgbClr val="BB5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0"/>
  </p:normalViewPr>
  <p:slideViewPr>
    <p:cSldViewPr snapToGrid="0" snapToObjects="1">
      <p:cViewPr>
        <p:scale>
          <a:sx n="100" d="100"/>
          <a:sy n="100" d="100"/>
        </p:scale>
        <p:origin x="7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DEEA1-956A-4AFB-ABC5-DCB461D8FCB6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AEE93-928E-470A-92AC-F090C05E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92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AEE93-928E-470A-92AC-F090C05E3B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8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216C-933B-644F-8776-36CAC1078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1559F-30E8-674C-98FD-1C8B1695D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9C189-4D23-C540-82E7-4F8DA4EE0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4B2D3-6DEE-6C43-B7D8-29A2F46538C2}" type="datetime1">
              <a:rPr lang="en-US" smtClean="0"/>
              <a:t>7/8/2022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C85E7-A6D1-8642-9C83-2222994D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B69B5-5BF5-834F-93A9-AF0B2B0E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0952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DD3F-40EA-E44D-8A6B-08FE6C222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FC759-303D-424B-B51F-167BC54D6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277D4-CF37-4F48-BD7C-C5A58B2A5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0FAE-ECD2-5246-A23F-01EAACF2818D}" type="datetime1">
              <a:rPr lang="en-US" smtClean="0"/>
              <a:t>7/8/2022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2F99-5B1B-C849-8A63-837F482E3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7F244-8AF9-2F42-82B1-4DCF129D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82648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4483D-A33D-984E-A8DD-4A4DEF73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9ABB3-83E3-4841-ADA9-64EE3604C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2036D-4126-F541-BC2B-53A76C168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B4354-46E8-D546-807A-6D42524E6900}" type="datetime1">
              <a:rPr lang="en-US" smtClean="0"/>
              <a:t>7/8/2022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7FAA0-8998-DB43-8835-AD5A046E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00180-3DC6-7C45-98A5-152DA492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25070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D063B-743C-7443-99C3-D53E06EDC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5E002-46FA-C94D-B38B-144D2B810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AE045-B8F7-2744-84EA-0FF8FEADA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A6A5F-568D-C04E-A712-E6F97D45E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AF9F-B068-BE49-906A-B9429D9A2A3A}" type="datetime1">
              <a:rPr lang="en-US" smtClean="0"/>
              <a:t>7/8/2022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C06BA-CACD-F647-9C98-C040FFBD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1A0E5-494C-704C-9F83-EF1196AE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51270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3EFD-E4F9-694C-94A2-BA2A994E7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7AA11-9120-4540-AE26-F85E4CAC6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245C4-50B6-264A-822B-2F1AF1160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836C51-0F36-4542-83B3-F1EFA0167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C5D40-25D1-294E-B186-5001583A84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3AF02-1BF0-DB4F-8FF8-A0D122635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F4C5-04B1-7445-8A71-9BD5A366AC27}" type="datetime1">
              <a:rPr lang="en-US" smtClean="0"/>
              <a:t>7/8/2022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9D281C-A268-CE41-8347-BFA0E90F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D94F9-A851-FC49-ACBC-8B163343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647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06CB7-B873-B14D-ACDC-4D2CA980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5A651-648F-3A43-9E4B-8BB2630ED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FF57-C12E-794B-95DE-C8C2583734EE}" type="datetime1">
              <a:rPr lang="en-US" smtClean="0"/>
              <a:t>7/8/2022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F4CC4-792E-E447-A5E0-96C78E95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FF7B36-4B90-B942-A763-42B980CC5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0481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7A82C-3BE9-AD44-8BBA-7220048B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DB93-6FE2-F64C-BC03-CED829E55848}" type="datetime1">
              <a:rPr lang="en-US" smtClean="0"/>
              <a:t>7/8/2022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9BBE2-96F8-6D4E-8A76-1FCCC91EF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BEFBC-B233-C147-B858-5EF254E1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14851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750E-E98F-9446-B790-00A86E14B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595E5-7211-5A41-8C63-8FE03E090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3312B-6202-514C-B4E4-8154AAEE5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BD964-307C-994C-B28D-9020F1AA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0A17-EE21-774F-830F-1E702C658951}" type="datetime1">
              <a:rPr lang="en-US" smtClean="0"/>
              <a:t>7/8/2022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CB3CA-4B99-CA49-897F-8038AD0A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1E857-9908-5D41-8644-2E5F2D74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7403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D758-A381-A340-868E-525657D6C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E013E-9E6B-0645-BFDE-CBAB6F641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A8D9E-E558-1345-8EDE-3475EA1CC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FD9FB-7A33-A64D-B513-8C91A8F8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2B90-1B25-A64B-A834-5C0CE11D4DFD}" type="datetime1">
              <a:rPr lang="en-US" smtClean="0"/>
              <a:t>7/8/2022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D4A4F-6B31-964D-964B-FC9DFA738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B18E4-38B3-6941-89BB-B6517B2D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2558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08736-DFD5-5D4A-8679-B54FBECD6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A1143-6954-DE48-A5F1-D3FED5074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5D1FC-CE8B-A343-B26A-6FA5A374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5CD8-F18C-0D4D-8270-5DDE4111480A}" type="datetime1">
              <a:rPr lang="en-US" smtClean="0"/>
              <a:t>7/8/2022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5E1AB-2F15-4F44-B54D-9500292C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CDA0E-7A6D-2342-B99D-243F8859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01124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2F5DFE-5D01-0A46-BB7C-9D8C716B7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C83EE-E837-1E42-BE72-86E8DB6C2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D49D6-A359-BC47-BC6A-18EAF44D9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060F-B037-244B-B858-1C3D60C5965E}" type="datetime1">
              <a:rPr lang="en-US" smtClean="0"/>
              <a:t>7/8/2022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6EC19-CAFF-E44B-AC59-2AF74E89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70331-A0CD-0C48-B065-CF9F9A1D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22133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18958-CA94-5E40-B36F-24AB0C00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90E91-D757-2748-99B8-3BEC0F492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00328-B053-584C-9CD1-689722F17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80339-B3FF-CD43-AB71-185B16043C9C}" type="datetime1">
              <a:rPr lang="en-US" smtClean="0"/>
              <a:t>7/8/2022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426D3-D448-C54C-B156-848AE28A0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C1243-03F3-3B45-9B47-4E91684E1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E0C10-0EF1-C246-872D-CC0E704EB9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49204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476D24D-318A-63FF-CBD7-ED84354D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1</a:t>
            </a:fld>
            <a:endParaRPr lang="en-VN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DEDB1570-5928-B214-9DB6-1B3B5A2F7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9"/>
            <a:ext cx="12192000" cy="6855601"/>
          </a:xfrm>
          <a:prstGeom prst="rect">
            <a:avLst/>
          </a:prstGeom>
        </p:spPr>
      </p:pic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E773B519-CA8F-57FE-1B0E-527D719C3C3B}"/>
              </a:ext>
            </a:extLst>
          </p:cNvPr>
          <p:cNvCxnSpPr>
            <a:cxnSpLocks/>
          </p:cNvCxnSpPr>
          <p:nvPr/>
        </p:nvCxnSpPr>
        <p:spPr>
          <a:xfrm>
            <a:off x="893811" y="2770347"/>
            <a:ext cx="329634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0B9FAB84-8B60-1A95-75C6-65609687246A}"/>
              </a:ext>
            </a:extLst>
          </p:cNvPr>
          <p:cNvSpPr txBox="1"/>
          <p:nvPr/>
        </p:nvSpPr>
        <p:spPr>
          <a:xfrm>
            <a:off x="893811" y="2312377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:</a:t>
            </a:r>
            <a:endParaRPr lang="vi-VN" dirty="0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A8AB9C3F-2AB6-8705-AAC0-02153C770C45}"/>
              </a:ext>
            </a:extLst>
          </p:cNvPr>
          <p:cNvSpPr txBox="1"/>
          <p:nvPr/>
        </p:nvSpPr>
        <p:spPr>
          <a:xfrm>
            <a:off x="893811" y="2919046"/>
            <a:ext cx="1793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Từ</a:t>
            </a:r>
            <a:r>
              <a:rPr lang="en-US" dirty="0"/>
              <a:t> Minh Tú</a:t>
            </a:r>
          </a:p>
          <a:p>
            <a:r>
              <a:rPr lang="en-US" dirty="0" err="1"/>
              <a:t>Trương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Dũng</a:t>
            </a:r>
            <a:endParaRPr lang="vi-VN" dirty="0"/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5148E9FB-5092-59CB-5F82-D4295138DE41}"/>
              </a:ext>
            </a:extLst>
          </p:cNvPr>
          <p:cNvSpPr txBox="1"/>
          <p:nvPr/>
        </p:nvSpPr>
        <p:spPr>
          <a:xfrm>
            <a:off x="893811" y="1099038"/>
            <a:ext cx="434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2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89413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913" y="566057"/>
            <a:ext cx="6938051" cy="58057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765280" y="1119085"/>
            <a:ext cx="3367314" cy="121754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.VnCourier New" panose="02027200000000000000" pitchFamily="18" charset="0"/>
                <a:cs typeface="Courier New" panose="02070309020205020404" pitchFamily="49" charset="0"/>
              </a:rPr>
              <a:t>NỘI DUNG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631961" y="791028"/>
            <a:ext cx="7356838" cy="5355772"/>
          </a:xfrm>
          <a:prstGeom prst="rect">
            <a:avLst/>
          </a:prstGeom>
          <a:solidFill>
            <a:srgbClr val="E8E5E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1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200000"/>
              </a:lnSpc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2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Phn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3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4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Demo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1886" y="319314"/>
            <a:ext cx="522514" cy="595086"/>
          </a:xfrm>
          <a:prstGeom prst="rect">
            <a:avLst/>
          </a:prstGeom>
          <a:solidFill>
            <a:srgbClr val="E8E5E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0ADEA-6135-4B12-A96A-88AEEB0A9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2</a:t>
            </a:fld>
            <a:endParaRPr lang="en-VN"/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74D6CDFA-A1D1-887E-3A67-D11A24769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87" y="2310781"/>
            <a:ext cx="4229100" cy="342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56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5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2569" y="-4990485"/>
            <a:ext cx="11749431" cy="116108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8025" y="516723"/>
            <a:ext cx="6004607" cy="88985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50800" dir="5400000" algn="ctr" rotWithShape="0">
              <a:srgbClr val="000000">
                <a:alpha val="8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en-US" sz="3200" b="1" kern="0" spc="300" dirty="0">
                <a:solidFill>
                  <a:srgbClr val="E7E6E6">
                    <a:lumMod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SẢN PHẨM</a:t>
            </a:r>
          </a:p>
        </p:txBody>
      </p:sp>
      <p:sp>
        <p:nvSpPr>
          <p:cNvPr id="11" name="Flowchart: Card 10"/>
          <p:cNvSpPr/>
          <p:nvPr/>
        </p:nvSpPr>
        <p:spPr>
          <a:xfrm rot="10800000">
            <a:off x="831360" y="1476918"/>
            <a:ext cx="5903548" cy="4794020"/>
          </a:xfrm>
          <a:prstGeom prst="flowChartPunchedCard">
            <a:avLst/>
          </a:prstGeom>
          <a:noFill/>
          <a:ln>
            <a:solidFill>
              <a:srgbClr val="6D31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FC535-A763-45E3-B04B-772FE1CA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3</a:t>
            </a:fld>
            <a:endParaRPr lang="en-VN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ED66A686-C843-EBA5-5471-2C5BEC29F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451" y="1461182"/>
            <a:ext cx="5903549" cy="479402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2B95D4-19D5-E249-A532-7407326F5FDA}"/>
              </a:ext>
            </a:extLst>
          </p:cNvPr>
          <p:cNvSpPr/>
          <p:nvPr/>
        </p:nvSpPr>
        <p:spPr>
          <a:xfrm>
            <a:off x="563813" y="1476918"/>
            <a:ext cx="5903548" cy="4794020"/>
          </a:xfrm>
          <a:prstGeom prst="rect">
            <a:avLst/>
          </a:prstGeom>
          <a:solidFill>
            <a:srgbClr val="F2F4FF"/>
          </a:solidFill>
          <a:ln>
            <a:solidFill>
              <a:srgbClr val="F2F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VN" sz="800" b="1" dirty="0">
                <a:solidFill>
                  <a:schemeClr val="tx1"/>
                </a:solidFill>
              </a:rPr>
              <a:t>  </a:t>
            </a:r>
          </a:p>
          <a:p>
            <a:pPr algn="ctr">
              <a:lnSpc>
                <a:spcPct val="150000"/>
              </a:lnSpc>
            </a:pPr>
            <a:endParaRPr lang="vi-VN" sz="2400" b="0" i="1" dirty="0">
              <a:solidFill>
                <a:srgbClr val="434B64"/>
              </a:solidFill>
              <a:effectLst/>
              <a:latin typeface="Playfair Display" panose="020B06040202020202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vi-VN" sz="2400" b="0" i="1" dirty="0" err="1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Ứng</a:t>
            </a:r>
            <a:r>
              <a:rPr lang="vi-VN" sz="2400" b="0" i="1" dirty="0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 </a:t>
            </a:r>
            <a:r>
              <a:rPr lang="vi-VN" sz="2400" b="0" i="1" dirty="0" err="1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dụng</a:t>
            </a:r>
            <a:r>
              <a:rPr lang="vi-VN" sz="2400" b="0" i="1" dirty="0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 </a:t>
            </a:r>
            <a:r>
              <a:rPr lang="vi-VN" sz="2400" b="0" i="1" dirty="0" err="1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hệ</a:t>
            </a:r>
            <a:r>
              <a:rPr lang="vi-VN" sz="2400" b="0" i="1" dirty="0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 </a:t>
            </a:r>
            <a:r>
              <a:rPr lang="vi-VN" sz="2400" b="0" i="1" dirty="0" err="1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thống</a:t>
            </a:r>
            <a:r>
              <a:rPr lang="vi-VN" sz="2400" b="0" i="1" dirty="0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 </a:t>
            </a:r>
            <a:r>
              <a:rPr lang="vi-VN" sz="2400" b="0" i="1" dirty="0" err="1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quản</a:t>
            </a:r>
            <a:r>
              <a:rPr lang="vi-VN" sz="2400" b="0" i="1" dirty="0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 </a:t>
            </a:r>
            <a:r>
              <a:rPr lang="vi-VN" sz="2400" b="0" i="1" dirty="0" err="1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lý</a:t>
            </a:r>
            <a:r>
              <a:rPr lang="vi-VN" sz="2400" b="0" i="1" dirty="0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 doanh thu cho </a:t>
            </a:r>
            <a:r>
              <a:rPr lang="vi-VN" sz="2400" b="0" i="1" dirty="0" err="1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một</a:t>
            </a:r>
            <a:r>
              <a:rPr lang="vi-VN" sz="2400" b="0" i="1" dirty="0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 </a:t>
            </a:r>
            <a:r>
              <a:rPr lang="vi-VN" sz="2400" b="0" i="1" dirty="0" err="1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cửa</a:t>
            </a:r>
            <a:r>
              <a:rPr lang="vi-VN" sz="2400" b="0" i="1" dirty="0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 </a:t>
            </a:r>
            <a:r>
              <a:rPr lang="vi-VN" sz="2400" b="0" i="1" dirty="0" err="1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hàng</a:t>
            </a:r>
            <a:r>
              <a:rPr lang="vi-VN" sz="2400" b="0" i="1" dirty="0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 </a:t>
            </a:r>
            <a:r>
              <a:rPr lang="vi-VN" sz="2400" b="0" i="1" dirty="0" err="1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bán</a:t>
            </a:r>
            <a:r>
              <a:rPr lang="vi-VN" sz="2400" b="0" i="1" dirty="0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 </a:t>
            </a:r>
            <a:r>
              <a:rPr lang="vi-VN" sz="2400" b="0" i="1" dirty="0" err="1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quần</a:t>
            </a:r>
            <a:r>
              <a:rPr lang="vi-VN" sz="2400" b="0" i="1" dirty="0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 </a:t>
            </a:r>
            <a:r>
              <a:rPr lang="vi-VN" sz="2400" b="0" i="1" dirty="0" err="1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áo</a:t>
            </a:r>
            <a:r>
              <a:rPr lang="vi-VN" sz="2400" b="0" i="1" dirty="0">
                <a:solidFill>
                  <a:srgbClr val="434B64"/>
                </a:solidFill>
                <a:effectLst/>
                <a:latin typeface="Playfair Display" panose="020B0604020202020204" pitchFamily="2" charset="0"/>
              </a:rPr>
              <a:t>. </a:t>
            </a:r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1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Cửa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hàng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bán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nhiều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loại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sản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phẩm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như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quần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áo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,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giày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dép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,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đồ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trang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sức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…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Q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uản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lý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như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nhãn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hiệu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,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giá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bán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,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số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 </a:t>
            </a:r>
            <a:r>
              <a:rPr lang="vi-VN" b="0" i="1" dirty="0" err="1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lượng</a:t>
            </a:r>
            <a:r>
              <a:rPr lang="vi-VN" b="0" i="1" dirty="0">
                <a:solidFill>
                  <a:srgbClr val="434B64"/>
                </a:solidFill>
                <a:effectLst/>
                <a:latin typeface="Playfair Display" panose="00000500000000000000" pitchFamily="2" charset="0"/>
              </a:rPr>
              <a:t>…</a:t>
            </a: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Quản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lý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các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sản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phẩm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của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cửa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hàng</a:t>
            </a:r>
            <a:endParaRPr lang="vi-VN" i="1" dirty="0">
              <a:solidFill>
                <a:srgbClr val="434B64"/>
              </a:solidFill>
              <a:latin typeface="Playfair Display" panose="00000500000000000000" pitchFamily="2" charset="0"/>
            </a:endParaRP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Quản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lý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nhân viên</a:t>
            </a: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Tính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chi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phí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trả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lương cho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các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nhân viên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và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các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chi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phí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của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cửa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 </a:t>
            </a:r>
            <a:r>
              <a:rPr lang="vi-VN" i="1" dirty="0" err="1">
                <a:solidFill>
                  <a:srgbClr val="434B64"/>
                </a:solidFill>
                <a:latin typeface="Playfair Display" panose="00000500000000000000" pitchFamily="2" charset="0"/>
              </a:rPr>
              <a:t>hàng</a:t>
            </a:r>
            <a:r>
              <a:rPr lang="vi-VN" i="1" dirty="0">
                <a:solidFill>
                  <a:srgbClr val="434B64"/>
                </a:solidFill>
                <a:latin typeface="Playfair Display" panose="00000500000000000000" pitchFamily="2" charset="0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378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2B29CF-C549-E64C-B9A1-BEB338493485}"/>
              </a:ext>
            </a:extLst>
          </p:cNvPr>
          <p:cNvSpPr/>
          <p:nvPr/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800" b="1" kern="1200" spc="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MÔ HÌNH TỔNG QUAN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Hình ảnh 4">
            <a:extLst>
              <a:ext uri="{FF2B5EF4-FFF2-40B4-BE49-F238E27FC236}">
                <a16:creationId xmlns:a16="http://schemas.microsoft.com/office/drawing/2014/main" id="{14C3C403-959C-211F-EA0D-B8B675576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474" y="350245"/>
            <a:ext cx="2463003" cy="615750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CDB93-8808-4AB6-94B6-A96D36C0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9AE0C10-0EF1-C246-872D-CC0E704EB9A9}" type="slidenum">
              <a:rPr lang="en-US">
                <a:solidFill>
                  <a:srgbClr val="595959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595959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2F37524-E201-A645-BFFA-6FBAC992C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145" y="1817224"/>
            <a:ext cx="10990126" cy="11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9354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2B29CF-C549-E64C-B9A1-BEB338493485}"/>
              </a:ext>
            </a:extLst>
          </p:cNvPr>
          <p:cNvSpPr/>
          <p:nvPr/>
        </p:nvSpPr>
        <p:spPr>
          <a:xfrm>
            <a:off x="167054" y="132975"/>
            <a:ext cx="8159261" cy="88985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50800" dir="5400000" algn="ctr" rotWithShape="0">
              <a:srgbClr val="000000">
                <a:alpha val="8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en-US" sz="3600" b="1" kern="0" spc="300" dirty="0">
                <a:solidFill>
                  <a:srgbClr val="E7E6E6">
                    <a:lumMod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.VnCourier New" panose="02027200000000000000" pitchFamily="18" charset="0"/>
                <a:cs typeface="Courier New" panose="02070309020205020404" pitchFamily="49" charset="0"/>
              </a:rPr>
              <a:t>2.</a:t>
            </a:r>
            <a:r>
              <a:rPr lang="en-US" sz="3600" b="1" kern="0" spc="300" dirty="0">
                <a:solidFill>
                  <a:srgbClr val="E7E6E6">
                    <a:lumMod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PHÂN TÍCH USECASE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13282F-0D18-E04A-B05C-FAF0D967F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887" y="975334"/>
            <a:ext cx="5759689" cy="54972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0F6268-D289-3143-B67A-401516FDDF16}"/>
              </a:ext>
            </a:extLst>
          </p:cNvPr>
          <p:cNvSpPr txBox="1"/>
          <p:nvPr/>
        </p:nvSpPr>
        <p:spPr>
          <a:xfrm>
            <a:off x="882370" y="6102859"/>
            <a:ext cx="2355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b="1" dirty="0"/>
              <a:t>USE CASE TỔNG QUAN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CDB93-8808-4AB6-94B6-A96D36C0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4952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F24D2AC-18FA-5241-92EC-38304E3F95FE}"/>
              </a:ext>
            </a:extLst>
          </p:cNvPr>
          <p:cNvSpPr txBox="1"/>
          <p:nvPr/>
        </p:nvSpPr>
        <p:spPr>
          <a:xfrm>
            <a:off x="1378564" y="6048186"/>
            <a:ext cx="1990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b="1" dirty="0"/>
              <a:t>USE CASE QUẢN LÝ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39FB75-17C0-E64B-A8E8-EA388AED9957}"/>
              </a:ext>
            </a:extLst>
          </p:cNvPr>
          <p:cNvSpPr/>
          <p:nvPr/>
        </p:nvSpPr>
        <p:spPr>
          <a:xfrm>
            <a:off x="210145" y="132975"/>
            <a:ext cx="5685830" cy="88985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50800" dir="5400000" algn="ctr" rotWithShape="0">
              <a:srgbClr val="000000">
                <a:alpha val="8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en-US" sz="3200" b="1" kern="0" spc="300" dirty="0">
                <a:solidFill>
                  <a:srgbClr val="E7E6E6">
                    <a:lumMod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PHÂN TÍCH USECASE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BAA714-B4BF-4263-A114-E3114BAB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6</a:t>
            </a:fld>
            <a:endParaRPr lang="en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0A62C-4073-7A4F-84FC-2658CD225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325" y="949140"/>
            <a:ext cx="4705349" cy="5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054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2B29CF-C549-E64C-B9A1-BEB338493485}"/>
              </a:ext>
            </a:extLst>
          </p:cNvPr>
          <p:cNvSpPr/>
          <p:nvPr/>
        </p:nvSpPr>
        <p:spPr>
          <a:xfrm>
            <a:off x="269915" y="220407"/>
            <a:ext cx="2461701" cy="199891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50800" dir="5400000" algn="ctr" rotWithShape="0">
              <a:srgbClr val="000000">
                <a:alpha val="8000"/>
              </a:srgbClr>
            </a:outerShdw>
          </a:effectLst>
        </p:spPr>
        <p:txBody>
          <a:bodyPr rtlCol="0" anchor="ctr"/>
          <a:lstStyle/>
          <a:p>
            <a:pPr>
              <a:defRPr/>
            </a:pPr>
            <a:r>
              <a:rPr lang="en-US" sz="3200" b="1" kern="0" spc="300" dirty="0">
                <a:solidFill>
                  <a:srgbClr val="E7E6E6">
                    <a:lumMod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BIỂU ĐỒ LỚP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1DE63-D119-354C-911A-6F4017EAA75F}"/>
              </a:ext>
            </a:extLst>
          </p:cNvPr>
          <p:cNvSpPr txBox="1"/>
          <p:nvPr/>
        </p:nvSpPr>
        <p:spPr>
          <a:xfrm>
            <a:off x="269916" y="2193244"/>
            <a:ext cx="17796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b="1" dirty="0"/>
              <a:t>CLASS DIAGRAM</a:t>
            </a:r>
          </a:p>
          <a:p>
            <a:r>
              <a:rPr lang="en-VN" b="1" dirty="0"/>
              <a:t>TỔNG QUAN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6A55E5-3B95-40B1-A0E9-504BC6DF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7</a:t>
            </a:fld>
            <a:endParaRPr lang="en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0944DDA8-43AC-8F53-379B-1049CE369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196" y="285187"/>
            <a:ext cx="7805327" cy="628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524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5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Nhóm 17">
            <a:extLst>
              <a:ext uri="{FF2B5EF4-FFF2-40B4-BE49-F238E27FC236}">
                <a16:creationId xmlns:a16="http://schemas.microsoft.com/office/drawing/2014/main" id="{469C9A12-A739-F2DE-2A8C-EEA27A80C1CF}"/>
              </a:ext>
            </a:extLst>
          </p:cNvPr>
          <p:cNvGrpSpPr/>
          <p:nvPr/>
        </p:nvGrpSpPr>
        <p:grpSpPr>
          <a:xfrm>
            <a:off x="0" y="0"/>
            <a:ext cx="12192000" cy="6861170"/>
            <a:chOff x="0" y="0"/>
            <a:chExt cx="12192000" cy="6861170"/>
          </a:xfrm>
        </p:grpSpPr>
        <p:sp>
          <p:nvSpPr>
            <p:cNvPr id="17" name="Hình chữ nhật 16">
              <a:extLst>
                <a:ext uri="{FF2B5EF4-FFF2-40B4-BE49-F238E27FC236}">
                  <a16:creationId xmlns:a16="http://schemas.microsoft.com/office/drawing/2014/main" id="{7E273A00-85BA-4441-BC05-6EA697AEC842}"/>
                </a:ext>
              </a:extLst>
            </p:cNvPr>
            <p:cNvSpPr/>
            <p:nvPr/>
          </p:nvSpPr>
          <p:spPr>
            <a:xfrm>
              <a:off x="0" y="0"/>
              <a:ext cx="1324889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16" name="Hình ảnh 15">
              <a:extLst>
                <a:ext uri="{FF2B5EF4-FFF2-40B4-BE49-F238E27FC236}">
                  <a16:creationId xmlns:a16="http://schemas.microsoft.com/office/drawing/2014/main" id="{2C25B696-6279-0735-C307-F710A60D4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9200" y="3170"/>
              <a:ext cx="10972800" cy="6858000"/>
            </a:xfrm>
            <a:prstGeom prst="rect">
              <a:avLst/>
            </a:prstGeom>
          </p:spPr>
        </p:pic>
      </p:grpSp>
      <p:sp>
        <p:nvSpPr>
          <p:cNvPr id="48" name="Rectangle 47"/>
          <p:cNvSpPr/>
          <p:nvPr/>
        </p:nvSpPr>
        <p:spPr>
          <a:xfrm>
            <a:off x="0" y="3170"/>
            <a:ext cx="785222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40917" y="320465"/>
            <a:ext cx="5830854" cy="644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65081" y="1593978"/>
            <a:ext cx="5425658" cy="644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dirty="0"/>
              <a:t>IDE Apache Netbeans, Công nghệ Swing </a:t>
            </a:r>
          </a:p>
        </p:txBody>
      </p:sp>
      <p:sp>
        <p:nvSpPr>
          <p:cNvPr id="10" name="Oval 9"/>
          <p:cNvSpPr/>
          <p:nvPr/>
        </p:nvSpPr>
        <p:spPr>
          <a:xfrm>
            <a:off x="867863" y="3719477"/>
            <a:ext cx="609600" cy="638629"/>
          </a:xfrm>
          <a:prstGeom prst="ellipse">
            <a:avLst/>
          </a:prstGeom>
          <a:solidFill>
            <a:srgbClr val="E8E5E4"/>
          </a:solidFill>
          <a:ln>
            <a:solidFill>
              <a:srgbClr val="4F240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638119" y="3606387"/>
            <a:ext cx="3846285" cy="81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dirty="0"/>
          </a:p>
        </p:txBody>
      </p:sp>
      <p:sp>
        <p:nvSpPr>
          <p:cNvPr id="13" name="Oval 12"/>
          <p:cNvSpPr/>
          <p:nvPr/>
        </p:nvSpPr>
        <p:spPr>
          <a:xfrm>
            <a:off x="839278" y="2624983"/>
            <a:ext cx="609600" cy="638629"/>
          </a:xfrm>
          <a:prstGeom prst="ellipse">
            <a:avLst/>
          </a:prstGeom>
          <a:solidFill>
            <a:srgbClr val="E8E5E4"/>
          </a:solidFill>
          <a:ln>
            <a:solidFill>
              <a:srgbClr val="4F240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467444" y="2514980"/>
            <a:ext cx="5433034" cy="81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dirty="0"/>
              <a:t>MySQL với công cụ quản trị dữ liệu phpMyAdmin</a:t>
            </a:r>
            <a:r>
              <a:rPr lang="en-VN" sz="2000" dirty="0"/>
              <a:t> </a:t>
            </a:r>
            <a:endParaRPr lang="en-US" sz="2000" b="1" dirty="0"/>
          </a:p>
        </p:txBody>
      </p:sp>
      <p:sp>
        <p:nvSpPr>
          <p:cNvPr id="19" name="Oval 18"/>
          <p:cNvSpPr/>
          <p:nvPr/>
        </p:nvSpPr>
        <p:spPr>
          <a:xfrm>
            <a:off x="857844" y="1611989"/>
            <a:ext cx="609600" cy="638629"/>
          </a:xfrm>
          <a:prstGeom prst="ellipse">
            <a:avLst/>
          </a:prstGeom>
          <a:solidFill>
            <a:srgbClr val="E8E5E4"/>
          </a:solidFill>
          <a:ln>
            <a:solidFill>
              <a:srgbClr val="4F240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570228" y="1510470"/>
            <a:ext cx="3333242" cy="81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b="1" dirty="0"/>
          </a:p>
        </p:txBody>
      </p:sp>
      <p:sp>
        <p:nvSpPr>
          <p:cNvPr id="22" name="Round Same Side Corner Rectangle 6">
            <a:extLst>
              <a:ext uri="{FF2B5EF4-FFF2-40B4-BE49-F238E27FC236}">
                <a16:creationId xmlns:a16="http://schemas.microsoft.com/office/drawing/2014/main" id="{50249BFC-DAB1-4F7B-8E1E-906F4332CD6A}"/>
              </a:ext>
            </a:extLst>
          </p:cNvPr>
          <p:cNvSpPr/>
          <p:nvPr/>
        </p:nvSpPr>
        <p:spPr>
          <a:xfrm rot="2700000">
            <a:off x="1130555" y="2748309"/>
            <a:ext cx="67645" cy="386349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rgbClr val="E8E5E4"/>
          </a:solidFill>
          <a:ln>
            <a:solidFill>
              <a:srgbClr val="4F24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4" name="Oval 44">
            <a:extLst>
              <a:ext uri="{FF2B5EF4-FFF2-40B4-BE49-F238E27FC236}">
                <a16:creationId xmlns:a16="http://schemas.microsoft.com/office/drawing/2014/main" id="{76730F0A-55ED-4BC7-ACD2-11C5DF5601C0}"/>
              </a:ext>
            </a:extLst>
          </p:cNvPr>
          <p:cNvSpPr>
            <a:spLocks noChangeAspect="1"/>
          </p:cNvSpPr>
          <p:nvPr/>
        </p:nvSpPr>
        <p:spPr>
          <a:xfrm>
            <a:off x="1091340" y="1772962"/>
            <a:ext cx="240245" cy="286057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E8E5E4"/>
          </a:solidFill>
          <a:ln>
            <a:solidFill>
              <a:srgbClr val="4F24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7" name="Rectangle 26"/>
          <p:cNvSpPr/>
          <p:nvPr/>
        </p:nvSpPr>
        <p:spPr>
          <a:xfrm>
            <a:off x="1638412" y="4962341"/>
            <a:ext cx="3846285" cy="81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98B4DE-2BEA-924B-8318-41F5E7CE4393}"/>
              </a:ext>
            </a:extLst>
          </p:cNvPr>
          <p:cNvSpPr/>
          <p:nvPr/>
        </p:nvSpPr>
        <p:spPr>
          <a:xfrm>
            <a:off x="269915" y="220407"/>
            <a:ext cx="5065303" cy="88985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50800" dir="5400000" algn="ctr" rotWithShape="0">
              <a:srgbClr val="000000">
                <a:alpha val="8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en-US" sz="3200" b="1" kern="0" spc="300" dirty="0">
                <a:solidFill>
                  <a:srgbClr val="E7E6E6">
                    <a:lumMod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CÔNG CỤ SỬ DỤNG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93768B-26B5-4F44-B316-D8E405A5EA02}"/>
              </a:ext>
            </a:extLst>
          </p:cNvPr>
          <p:cNvSpPr/>
          <p:nvPr/>
        </p:nvSpPr>
        <p:spPr>
          <a:xfrm>
            <a:off x="1627468" y="3652401"/>
            <a:ext cx="5433034" cy="81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dirty="0"/>
              <a:t>Phần mềm Astah xây dựng UML</a:t>
            </a:r>
            <a:endParaRPr lang="en-US" sz="2000" b="1" dirty="0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52F08ECD-8800-42CB-BDEA-E190428D4E46}"/>
              </a:ext>
            </a:extLst>
          </p:cNvPr>
          <p:cNvSpPr/>
          <p:nvPr/>
        </p:nvSpPr>
        <p:spPr>
          <a:xfrm>
            <a:off x="1010217" y="3883978"/>
            <a:ext cx="314672" cy="309626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rgbClr val="E8E5E4"/>
          </a:solidFill>
          <a:ln>
            <a:solidFill>
              <a:srgbClr val="4F24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6DE25E8-4E99-9F4D-A46B-A926F848D543}"/>
              </a:ext>
            </a:extLst>
          </p:cNvPr>
          <p:cNvSpPr/>
          <p:nvPr/>
        </p:nvSpPr>
        <p:spPr>
          <a:xfrm>
            <a:off x="839278" y="4840907"/>
            <a:ext cx="609600" cy="638629"/>
          </a:xfrm>
          <a:prstGeom prst="ellipse">
            <a:avLst/>
          </a:prstGeom>
          <a:solidFill>
            <a:srgbClr val="E8E5E4"/>
          </a:solidFill>
          <a:ln>
            <a:solidFill>
              <a:srgbClr val="4F240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180EFF-CB2F-C14D-AA60-FF5A32191D99}"/>
              </a:ext>
            </a:extLst>
          </p:cNvPr>
          <p:cNvSpPr/>
          <p:nvPr/>
        </p:nvSpPr>
        <p:spPr>
          <a:xfrm>
            <a:off x="1609534" y="4727817"/>
            <a:ext cx="3846285" cy="81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391DF8-531F-5C42-9F9C-CC2BD8D76BE0}"/>
              </a:ext>
            </a:extLst>
          </p:cNvPr>
          <p:cNvSpPr/>
          <p:nvPr/>
        </p:nvSpPr>
        <p:spPr>
          <a:xfrm>
            <a:off x="1598883" y="4773831"/>
            <a:ext cx="5433034" cy="81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dirty="0"/>
              <a:t>Quản lý Source Code GitHub</a:t>
            </a:r>
            <a:endParaRPr lang="en-US" sz="2000" b="1" dirty="0"/>
          </a:p>
        </p:txBody>
      </p:sp>
      <p:sp>
        <p:nvSpPr>
          <p:cNvPr id="31" name="Freeform 19">
            <a:extLst>
              <a:ext uri="{FF2B5EF4-FFF2-40B4-BE49-F238E27FC236}">
                <a16:creationId xmlns:a16="http://schemas.microsoft.com/office/drawing/2014/main" id="{1E1A5514-FF3A-554D-92CD-AA19D745AA06}"/>
              </a:ext>
            </a:extLst>
          </p:cNvPr>
          <p:cNvSpPr/>
          <p:nvPr/>
        </p:nvSpPr>
        <p:spPr>
          <a:xfrm>
            <a:off x="981632" y="5005408"/>
            <a:ext cx="314672" cy="309626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rgbClr val="E8E5E4"/>
          </a:solidFill>
          <a:ln>
            <a:solidFill>
              <a:srgbClr val="4F24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F3301E-20AB-0646-B22C-9EB44287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97511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834132-0D4C-0B44-AF53-1E53630D08EB}"/>
              </a:ext>
            </a:extLst>
          </p:cNvPr>
          <p:cNvSpPr/>
          <p:nvPr/>
        </p:nvSpPr>
        <p:spPr>
          <a:xfrm>
            <a:off x="269915" y="220407"/>
            <a:ext cx="5065303" cy="88985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50800" dir="5400000" algn="ctr" rotWithShape="0">
              <a:srgbClr val="000000">
                <a:alpha val="8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r>
              <a:rPr lang="en-US" sz="3200" b="1" kern="0" spc="300" dirty="0">
                <a:solidFill>
                  <a:srgbClr val="E7E6E6">
                    <a:lumMod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DEMO SẢN PHẨM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99E8E-7A76-4903-8068-B47B2ED51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0C10-0EF1-C246-872D-CC0E704EB9A9}" type="slidenum">
              <a:rPr lang="en-VN" smtClean="0"/>
              <a:t>9</a:t>
            </a:fld>
            <a:endParaRPr lang="en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48F84A35-3A20-3136-19A9-A10885C55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736" y="1463055"/>
            <a:ext cx="5933063" cy="4809377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FE76330B-EEFE-6BC8-BC01-580915762D3A}"/>
              </a:ext>
            </a:extLst>
          </p:cNvPr>
          <p:cNvSpPr txBox="1"/>
          <p:nvPr/>
        </p:nvSpPr>
        <p:spPr>
          <a:xfrm>
            <a:off x="981074" y="2724150"/>
            <a:ext cx="3076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GO</a:t>
            </a:r>
            <a:endParaRPr lang="vi-V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48449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198</Words>
  <Application>Microsoft Office PowerPoint</Application>
  <PresentationFormat>Màn hình rộng</PresentationFormat>
  <Paragraphs>45</Paragraphs>
  <Slides>9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7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9</vt:i4>
      </vt:variant>
    </vt:vector>
  </HeadingPairs>
  <TitlesOfParts>
    <vt:vector size="17" baseType="lpstr">
      <vt:lpstr>.VnCourier New</vt:lpstr>
      <vt:lpstr>Arial</vt:lpstr>
      <vt:lpstr>Calibri</vt:lpstr>
      <vt:lpstr>Calibri Light</vt:lpstr>
      <vt:lpstr>Courier New</vt:lpstr>
      <vt:lpstr>Playfair Display</vt:lpstr>
      <vt:lpstr>Times New Roman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Hoang Minh Nguyet 20176839</dc:creator>
  <cp:lastModifiedBy>TU MINH TU 20194701</cp:lastModifiedBy>
  <cp:revision>54</cp:revision>
  <dcterms:created xsi:type="dcterms:W3CDTF">2020-06-02T02:16:03Z</dcterms:created>
  <dcterms:modified xsi:type="dcterms:W3CDTF">2022-07-08T08:16:39Z</dcterms:modified>
</cp:coreProperties>
</file>